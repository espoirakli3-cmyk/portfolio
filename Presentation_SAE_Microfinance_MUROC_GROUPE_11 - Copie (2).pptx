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70" r:id="rId2"/>
    <p:sldId id="280" r:id="rId3"/>
    <p:sldId id="282" r:id="rId4"/>
    <p:sldId id="284" r:id="rId5"/>
    <p:sldId id="260" r:id="rId6"/>
    <p:sldId id="262" r:id="rId7"/>
    <p:sldId id="286" r:id="rId8"/>
    <p:sldId id="274" r:id="rId9"/>
    <p:sldId id="276" r:id="rId10"/>
    <p:sldId id="278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85" r:id="rId19"/>
  </p:sldIdLst>
  <p:sldSz cx="124920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3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42BF"/>
    <a:srgbClr val="FFF4DE"/>
    <a:srgbClr val="FAC0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78" autoAdjust="0"/>
    <p:restoredTop sz="94975" autoAdjust="0"/>
  </p:normalViewPr>
  <p:slideViewPr>
    <p:cSldViewPr snapToGrid="0" snapToObjects="1">
      <p:cViewPr varScale="1">
        <p:scale>
          <a:sx n="83" d="100"/>
          <a:sy n="83" d="100"/>
        </p:scale>
        <p:origin x="542" y="62"/>
      </p:cViewPr>
      <p:guideLst>
        <p:guide orient="horz" pos="2160"/>
        <p:guide pos="393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D7EB7B-F25B-4F30-B50D-366313016819}" type="datetimeFigureOut">
              <a:rPr lang="fr-FR" smtClean="0"/>
              <a:t>05/03/2026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19125" y="1143000"/>
            <a:ext cx="56197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979F62-B20F-49CC-B7EF-9A430ADA9E4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7162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79F62-B20F-49CC-B7EF-9A430ADA9E4B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33731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79F62-B20F-49CC-B7EF-9A430ADA9E4B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50935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79F62-B20F-49CC-B7EF-9A430ADA9E4B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7600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6903" y="2130427"/>
            <a:ext cx="10618232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3806" y="3886200"/>
            <a:ext cx="874442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785" y="4406902"/>
            <a:ext cx="1061823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6785" y="2906713"/>
            <a:ext cx="1061823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602" y="1600202"/>
            <a:ext cx="5517317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50119" y="1600202"/>
            <a:ext cx="5517317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602" y="1535113"/>
            <a:ext cx="55194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602" y="2174875"/>
            <a:ext cx="55194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45784" y="1535113"/>
            <a:ext cx="55216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45784" y="2174875"/>
            <a:ext cx="552165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603" y="273050"/>
            <a:ext cx="410979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4040" y="273052"/>
            <a:ext cx="698339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4603" y="1435102"/>
            <a:ext cx="410979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8526" y="4800600"/>
            <a:ext cx="749522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48526" y="612775"/>
            <a:ext cx="749522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48526" y="5367338"/>
            <a:ext cx="749522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56727" y="274640"/>
            <a:ext cx="2810709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4602" y="274640"/>
            <a:ext cx="8223925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 bright="70000" contrast="-70000"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4602" y="274638"/>
            <a:ext cx="1124283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602" y="1600202"/>
            <a:ext cx="1124283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4602" y="6356352"/>
            <a:ext cx="29148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68113" y="6356352"/>
            <a:ext cx="39558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52627" y="6356352"/>
            <a:ext cx="29148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2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5.png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3027" y="2351696"/>
            <a:ext cx="10363200" cy="1504905"/>
          </a:xfrm>
          <a:ln>
            <a:noFill/>
          </a:ln>
          <a:effectLst/>
        </p:spPr>
        <p:txBody>
          <a:bodyPr>
            <a:noAutofit/>
          </a:bodyPr>
          <a:lstStyle/>
          <a:p>
            <a:r>
              <a:rPr lang="fr-FR" sz="4800" dirty="0" smtClean="0">
                <a:ln>
                  <a:solidFill>
                    <a:srgbClr val="FFC000"/>
                  </a:solidFill>
                </a:ln>
                <a:solidFill>
                  <a:srgbClr val="0070C0"/>
                </a:solidFill>
                <a:latin typeface="Britannic Bold" panose="020B0903060703020204" pitchFamily="34" charset="0"/>
              </a:rPr>
              <a:t/>
            </a:r>
            <a:br>
              <a:rPr lang="fr-FR" sz="4800" dirty="0" smtClean="0">
                <a:ln>
                  <a:solidFill>
                    <a:srgbClr val="FFC000"/>
                  </a:solidFill>
                </a:ln>
                <a:solidFill>
                  <a:srgbClr val="0070C0"/>
                </a:solidFill>
                <a:latin typeface="Britannic Bold" panose="020B0903060703020204" pitchFamily="34" charset="0"/>
              </a:rPr>
            </a:br>
            <a:r>
              <a:rPr sz="4800" dirty="0" err="1" smtClean="0">
                <a:ln>
                  <a:solidFill>
                    <a:srgbClr val="FFC000"/>
                  </a:solidFill>
                </a:ln>
                <a:solidFill>
                  <a:srgbClr val="0070C0"/>
                </a:solidFill>
                <a:latin typeface="Britannic Bold" panose="020B0903060703020204" pitchFamily="34" charset="0"/>
              </a:rPr>
              <a:t>Projet</a:t>
            </a:r>
            <a:r>
              <a:rPr sz="4800" dirty="0" smtClean="0">
                <a:ln>
                  <a:solidFill>
                    <a:srgbClr val="FFC000"/>
                  </a:solidFill>
                </a:ln>
                <a:solidFill>
                  <a:srgbClr val="0070C0"/>
                </a:solidFill>
                <a:latin typeface="Britannic Bold" panose="020B0903060703020204" pitchFamily="34" charset="0"/>
              </a:rPr>
              <a:t> SAÉ</a:t>
            </a:r>
            <a:r>
              <a:rPr lang="fr-FR" sz="4800" dirty="0">
                <a:ln>
                  <a:solidFill>
                    <a:srgbClr val="FFC000"/>
                  </a:solidFill>
                </a:ln>
                <a:solidFill>
                  <a:srgbClr val="0070C0"/>
                </a:solidFill>
                <a:latin typeface="Britannic Bold" panose="020B0903060703020204" pitchFamily="34" charset="0"/>
              </a:rPr>
              <a:t> </a:t>
            </a:r>
            <a:r>
              <a:rPr lang="fr-FR" sz="4800" dirty="0" smtClean="0">
                <a:ln>
                  <a:solidFill>
                    <a:srgbClr val="FFC000"/>
                  </a:solidFill>
                </a:ln>
                <a:solidFill>
                  <a:srgbClr val="0070C0"/>
                </a:solidFill>
                <a:latin typeface="Britannic Bold" panose="020B0903060703020204" pitchFamily="34" charset="0"/>
              </a:rPr>
              <a:t>Recueil </a:t>
            </a:r>
            <a:r>
              <a:rPr lang="fr-FR" sz="4800" dirty="0">
                <a:ln>
                  <a:solidFill>
                    <a:srgbClr val="FFC000"/>
                  </a:solidFill>
                </a:ln>
                <a:solidFill>
                  <a:srgbClr val="0070C0"/>
                </a:solidFill>
                <a:latin typeface="Britannic Bold" panose="020B0903060703020204" pitchFamily="34" charset="0"/>
              </a:rPr>
              <a:t>et Implémentation des </a:t>
            </a:r>
            <a:r>
              <a:rPr lang="fr-FR" sz="4800" dirty="0" smtClean="0">
                <a:ln>
                  <a:solidFill>
                    <a:srgbClr val="FFC000"/>
                  </a:solidFill>
                </a:ln>
                <a:solidFill>
                  <a:srgbClr val="0070C0"/>
                </a:solidFill>
                <a:latin typeface="Britannic Bold" panose="020B0903060703020204" pitchFamily="34" charset="0"/>
              </a:rPr>
              <a:t>Besoins d’un client</a:t>
            </a:r>
            <a:r>
              <a:rPr lang="fr-FR" sz="4800" dirty="0">
                <a:ln>
                  <a:solidFill>
                    <a:srgbClr val="FFC000"/>
                  </a:solidFill>
                </a:ln>
                <a:solidFill>
                  <a:srgbClr val="0070C0"/>
                </a:solidFill>
                <a:latin typeface="Britannic Bold" panose="020B0903060703020204" pitchFamily="34" charset="0"/>
              </a:rPr>
              <a:t/>
            </a:r>
            <a:br>
              <a:rPr lang="fr-FR" sz="4800" dirty="0">
                <a:ln>
                  <a:solidFill>
                    <a:srgbClr val="FFC000"/>
                  </a:solidFill>
                </a:ln>
                <a:solidFill>
                  <a:srgbClr val="0070C0"/>
                </a:solidFill>
                <a:latin typeface="Britannic Bold" panose="020B0903060703020204" pitchFamily="34" charset="0"/>
              </a:rPr>
            </a:br>
            <a:endParaRPr sz="4800" dirty="0">
              <a:ln>
                <a:solidFill>
                  <a:srgbClr val="FFC000"/>
                </a:solidFill>
              </a:ln>
              <a:solidFill>
                <a:srgbClr val="0070C0"/>
              </a:solidFill>
              <a:latin typeface="Britannic Bold" panose="020B0903060703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65376" y="3856602"/>
            <a:ext cx="8534400" cy="2615831"/>
          </a:xfrm>
        </p:spPr>
        <p:txBody>
          <a:bodyPr>
            <a:noAutofit/>
          </a:bodyPr>
          <a:lstStyle/>
          <a:p>
            <a:r>
              <a:rPr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Franklin Gothic Heavy" panose="020B0903020102020204" pitchFamily="34" charset="0"/>
              </a:rPr>
              <a:t>GROUPE N° 11</a:t>
            </a:r>
          </a:p>
          <a:p>
            <a:r>
              <a:rPr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Franklin Gothic Heavy" panose="020B0903020102020204" pitchFamily="34" charset="0"/>
              </a:rPr>
              <a:t>AKLI KOMI ESPOIR</a:t>
            </a:r>
          </a:p>
          <a:p>
            <a:r>
              <a:rPr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Franklin Gothic Heavy" panose="020B0903020102020204" pitchFamily="34" charset="0"/>
              </a:rPr>
              <a:t>DJIMEDO JEAN-BAPTISTE</a:t>
            </a:r>
          </a:p>
          <a:p>
            <a:r>
              <a:rPr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Franklin Gothic Heavy" panose="020B0903020102020204" pitchFamily="34" charset="0"/>
              </a:rPr>
              <a:t>KEKEY ADJOVI GABRIELLA</a:t>
            </a:r>
            <a:endParaRPr lang="fr-FR" sz="2800" dirty="0">
              <a:solidFill>
                <a:schemeClr val="tx1">
                  <a:lumMod val="95000"/>
                  <a:lumOff val="5000"/>
                </a:schemeClr>
              </a:solidFill>
              <a:latin typeface="Franklin Gothic Heavy" panose="020B0903020102020204" pitchFamily="34" charset="0"/>
            </a:endParaRPr>
          </a:p>
          <a:p>
            <a:r>
              <a:rPr lang="fr-FR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Franklin Gothic Heavy" panose="020B0903020102020204" pitchFamily="34" charset="0"/>
              </a:rPr>
              <a:t>KEDJAGNI AFI MAWUTO</a:t>
            </a:r>
          </a:p>
          <a:p>
            <a:endParaRPr sz="2800" dirty="0">
              <a:solidFill>
                <a:schemeClr val="tx1">
                  <a:lumMod val="95000"/>
                  <a:lumOff val="5000"/>
                </a:schemeClr>
              </a:solidFill>
              <a:latin typeface="Franklin Gothic Heavy" panose="020B0903020102020204" pitchFamily="34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" y="218941"/>
            <a:ext cx="1679713" cy="1701813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1679713" y="0"/>
            <a:ext cx="3520439" cy="2267712"/>
          </a:xfrm>
          <a:prstGeom prst="rect">
            <a:avLst/>
          </a:prstGeom>
          <a:blipFill dpi="0"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colorTemperature colorTemp="11200"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10" name="Rectangle à coins arrondis 9"/>
          <p:cNvSpPr/>
          <p:nvPr/>
        </p:nvSpPr>
        <p:spPr>
          <a:xfrm>
            <a:off x="10177671" y="-18288"/>
            <a:ext cx="2314368" cy="1719470"/>
          </a:xfrm>
          <a:prstGeom prst="roundRect">
            <a:avLst/>
          </a:prstGeom>
          <a:blipFill dpi="0" rotWithShape="1"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colorTemperature colorTemp="112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31" t="-353" r="-105"/>
          <a:stretch/>
        </p:blipFill>
        <p:spPr>
          <a:xfrm>
            <a:off x="-2600025" y="-414780"/>
            <a:ext cx="14687896" cy="8125907"/>
          </a:xfrm>
          <a:prstGeom prst="rect">
            <a:avLst/>
          </a:prstGeom>
          <a:noFill/>
          <a:effectLst>
            <a:outerShdw blurRad="1193800" dist="50800" dir="5400000" sx="108000" sy="108000" algn="ctr" rotWithShape="0">
              <a:srgbClr val="000000">
                <a:alpha val="0"/>
              </a:srgbClr>
            </a:outerShdw>
            <a:reflection endPos="2000" dist="50800" dir="5400000" sy="-100000" algn="bl" rotWithShape="0"/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601" y="103695"/>
            <a:ext cx="10791259" cy="593889"/>
          </a:xfrm>
        </p:spPr>
        <p:txBody>
          <a:bodyPr>
            <a:normAutofit fontScale="90000"/>
          </a:bodyPr>
          <a:lstStyle/>
          <a:p>
            <a:r>
              <a:rPr sz="4800" dirty="0">
                <a:solidFill>
                  <a:srgbClr val="0070C0"/>
                </a:solidFill>
                <a:latin typeface="Britannic Bold" panose="020B0903060703020204" pitchFamily="34" charset="0"/>
              </a:rPr>
              <a:t>1. </a:t>
            </a:r>
            <a:r>
              <a:rPr lang="fr-FR" sz="4800" dirty="0">
                <a:solidFill>
                  <a:srgbClr val="0070C0"/>
                </a:solidFill>
                <a:latin typeface="Britannic Bold" panose="020B0903060703020204" pitchFamily="34" charset="0"/>
              </a:rPr>
              <a:t>Présentation de l’entreprise</a:t>
            </a:r>
            <a:endParaRPr sz="4800" dirty="0">
              <a:solidFill>
                <a:srgbClr val="0070C0"/>
              </a:solidFill>
              <a:latin typeface="Britannic Bold" panose="020B0903060703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31357" y="871979"/>
            <a:ext cx="8598599" cy="53497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fr-FR" sz="3600" dirty="0" err="1">
                <a:latin typeface="Arial" panose="020B0604020202020204" pitchFamily="34" charset="0"/>
                <a:cs typeface="Arial" panose="020B0604020202020204" pitchFamily="34" charset="0"/>
              </a:rPr>
              <a:t>microfinance</a:t>
            </a:r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 MUROC (Mutuelle ROC) est une institution financière spécialisée dans les services de microcrédit, d’épargne et de tontine</a:t>
            </a:r>
            <a:r>
              <a:rPr lang="fr-FR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fr-FR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Elle compte 30 employés répartis dans plusieurs services : caissiers, agents de crédit, agents de collecte, comptables et direction.</a:t>
            </a:r>
          </a:p>
          <a:p>
            <a:pPr marL="0" indent="0">
              <a:buNone/>
            </a:pPr>
            <a:endParaRPr lang="fr-F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sz="3600" dirty="0">
              <a:latin typeface="Berlin Sans FB" panose="020E0602020502020306" pitchFamily="34" charset="0"/>
            </a:endParaRPr>
          </a:p>
        </p:txBody>
      </p:sp>
      <p:sp>
        <p:nvSpPr>
          <p:cNvPr id="5" name="Ellipse 4"/>
          <p:cNvSpPr/>
          <p:nvPr/>
        </p:nvSpPr>
        <p:spPr>
          <a:xfrm>
            <a:off x="0" y="961535"/>
            <a:ext cx="3431357" cy="4364609"/>
          </a:xfrm>
          <a:prstGeom prst="ellipse">
            <a:avLst/>
          </a:prstGeom>
          <a:blipFill dpi="0"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12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7146"/>
            <a:ext cx="13448109" cy="6705600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effectLst>
            <a:outerShdw blurRad="1270000" dist="50800" dir="5400000" algn="ctr" rotWithShape="0">
              <a:srgbClr val="000000">
                <a:alpha val="0"/>
              </a:srgbClr>
            </a:outerShdw>
            <a:reflection endPos="65000" dist="50800" dir="5400000" sy="-100000" algn="bl" rotWithShape="0"/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800" dirty="0">
                <a:solidFill>
                  <a:srgbClr val="0070C0"/>
                </a:solidFill>
                <a:latin typeface="Britannic Bold" panose="020B0903060703020204" pitchFamily="34" charset="0"/>
              </a:rPr>
              <a:t>2. </a:t>
            </a:r>
            <a:r>
              <a:rPr lang="fr-FR" sz="4800" dirty="0" smtClean="0">
                <a:solidFill>
                  <a:srgbClr val="0070C0"/>
                </a:solidFill>
                <a:latin typeface="Britannic Bold" panose="020B0903060703020204" pitchFamily="34" charset="0"/>
              </a:rPr>
              <a:t>Besoins recueillis </a:t>
            </a:r>
            <a:endParaRPr sz="4800" dirty="0">
              <a:solidFill>
                <a:srgbClr val="0070C0"/>
              </a:solidFill>
              <a:latin typeface="Britannic Bold" panose="020B0903060703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0643" y="1417638"/>
            <a:ext cx="11123629" cy="44081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600" b="1" dirty="0" smtClean="0"/>
              <a:t>                           </a:t>
            </a:r>
            <a:r>
              <a:rPr lang="fr-FR" sz="4400" b="1" dirty="0" smtClean="0"/>
              <a:t>2.1 </a:t>
            </a:r>
            <a:r>
              <a:rPr lang="fr-FR" sz="4400" b="1" dirty="0"/>
              <a:t>Besoins </a:t>
            </a:r>
            <a:r>
              <a:rPr lang="fr-FR" sz="4400" b="1" dirty="0" smtClean="0"/>
              <a:t>fonctionnels</a:t>
            </a:r>
          </a:p>
          <a:p>
            <a:r>
              <a:rPr lang="fr-FR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Mise en place d’un réseau local (LAN)</a:t>
            </a:r>
          </a:p>
          <a:p>
            <a:r>
              <a:rPr lang="fr-FR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Partage sécurisé des fichiers entre services</a:t>
            </a:r>
          </a:p>
          <a:p>
            <a:r>
              <a:rPr lang="fr-FR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Accès </a:t>
            </a:r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Internet pour tous les postes</a:t>
            </a:r>
          </a:p>
          <a:p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Création de comptes utilisateurs</a:t>
            </a:r>
          </a:p>
          <a:p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Protection des données sensibles</a:t>
            </a:r>
          </a:p>
          <a:p>
            <a:pPr marL="0" indent="0">
              <a:buNone/>
            </a:pPr>
            <a:endParaRPr sz="3600" dirty="0">
              <a:latin typeface="Berlin Sans FB" panose="020E0602020502020306" pitchFamily="34" charset="0"/>
            </a:endParaRP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8096" y="-192024"/>
            <a:ext cx="12492038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7125" y="749177"/>
            <a:ext cx="10137788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600" b="1" dirty="0" smtClean="0"/>
              <a:t>                              </a:t>
            </a:r>
            <a:r>
              <a:rPr lang="fr-FR" sz="4800" b="1" dirty="0" smtClean="0">
                <a:solidFill>
                  <a:srgbClr val="0070C0"/>
                </a:solidFill>
                <a:latin typeface="Britannic Bold" panose="020B0903060703020204" pitchFamily="34" charset="0"/>
              </a:rPr>
              <a:t>2.2 </a:t>
            </a:r>
            <a:r>
              <a:rPr lang="fr-FR" sz="4800" b="1" dirty="0">
                <a:solidFill>
                  <a:srgbClr val="0070C0"/>
                </a:solidFill>
                <a:latin typeface="Britannic Bold" panose="020B0903060703020204" pitchFamily="34" charset="0"/>
              </a:rPr>
              <a:t>Contraintes</a:t>
            </a:r>
          </a:p>
          <a:p>
            <a:r>
              <a:rPr lang="fr-FR" sz="3600" dirty="0" smtClean="0"/>
              <a:t>   </a:t>
            </a:r>
            <a:r>
              <a:rPr lang="fr-FR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Budget </a:t>
            </a:r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limité</a:t>
            </a:r>
          </a:p>
          <a:p>
            <a:r>
              <a:rPr lang="fr-FR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   Matériel </a:t>
            </a:r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existant à réutiliser</a:t>
            </a:r>
          </a:p>
          <a:p>
            <a:r>
              <a:rPr lang="fr-FR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   Personnel </a:t>
            </a:r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non spécialisé en informatique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740"/>
            <a:ext cx="12492038" cy="68382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4800" b="1" dirty="0" smtClean="0">
                <a:solidFill>
                  <a:srgbClr val="0070C0"/>
                </a:solidFill>
                <a:latin typeface="Berlin Sans FB Demi" panose="020E0802020502020306" pitchFamily="34" charset="0"/>
              </a:rPr>
              <a:t/>
            </a:r>
            <a:br>
              <a:rPr lang="fr-FR" sz="4800" b="1" dirty="0" smtClean="0">
                <a:solidFill>
                  <a:srgbClr val="0070C0"/>
                </a:solidFill>
                <a:latin typeface="Berlin Sans FB Demi" panose="020E0802020502020306" pitchFamily="34" charset="0"/>
              </a:rPr>
            </a:br>
            <a:r>
              <a:rPr lang="fr-FR" sz="5300" b="1" dirty="0" smtClean="0">
                <a:solidFill>
                  <a:srgbClr val="0070C0"/>
                </a:solidFill>
                <a:latin typeface="Britannic Bold" panose="020B0903060703020204" pitchFamily="34" charset="0"/>
              </a:rPr>
              <a:t>2.3 </a:t>
            </a:r>
            <a:r>
              <a:rPr lang="fr-FR" sz="5300" b="1" dirty="0">
                <a:solidFill>
                  <a:srgbClr val="0070C0"/>
                </a:solidFill>
                <a:latin typeface="Britannic Bold" panose="020B0903060703020204" pitchFamily="34" charset="0"/>
              </a:rPr>
              <a:t>Problèmes identifiés</a:t>
            </a:r>
            <a:r>
              <a:rPr lang="fr-FR" sz="4800" b="1" dirty="0"/>
              <a:t/>
            </a:r>
            <a:br>
              <a:rPr lang="fr-FR" sz="4800" b="1" dirty="0"/>
            </a:br>
            <a:endParaRPr sz="4800" dirty="0">
              <a:solidFill>
                <a:srgbClr val="0070C0"/>
              </a:solidFill>
              <a:latin typeface="Britannic Bold" panose="020B0903060703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2901" y="1787490"/>
            <a:ext cx="10072776" cy="3170102"/>
          </a:xfrm>
        </p:spPr>
        <p:txBody>
          <a:bodyPr>
            <a:normAutofit/>
          </a:bodyPr>
          <a:lstStyle/>
          <a:p>
            <a:r>
              <a:rPr lang="fr-FR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   Réseau </a:t>
            </a:r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non structuré</a:t>
            </a:r>
          </a:p>
          <a:p>
            <a:r>
              <a:rPr lang="fr-FR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   Absence </a:t>
            </a:r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de serveur dédié</a:t>
            </a:r>
          </a:p>
          <a:p>
            <a:r>
              <a:rPr lang="fr-FR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   Risque </a:t>
            </a:r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de perte de données</a:t>
            </a:r>
          </a:p>
          <a:p>
            <a:r>
              <a:rPr lang="fr-FR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   Gestion </a:t>
            </a:r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non sécurisée des accès</a:t>
            </a:r>
          </a:p>
          <a:p>
            <a:pPr marL="0" indent="0">
              <a:buNone/>
            </a:pPr>
            <a:endParaRPr sz="3600" dirty="0">
              <a:latin typeface="Berlin Sans FB" panose="020E0602020502020306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93128" cy="6705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5300" dirty="0" smtClean="0">
                <a:solidFill>
                  <a:srgbClr val="0070C0"/>
                </a:solidFill>
                <a:latin typeface="Britannic Bold" panose="020B0903060703020204" pitchFamily="34" charset="0"/>
              </a:rPr>
              <a:t>3. </a:t>
            </a:r>
            <a:r>
              <a:rPr lang="en-US" sz="5300" dirty="0" err="1">
                <a:solidFill>
                  <a:srgbClr val="0070C0"/>
                </a:solidFill>
                <a:latin typeface="Britannic Bold" panose="020B0903060703020204" pitchFamily="34" charset="0"/>
              </a:rPr>
              <a:t>Analyse</a:t>
            </a:r>
            <a:r>
              <a:rPr lang="en-US" sz="5300" dirty="0">
                <a:solidFill>
                  <a:srgbClr val="0070C0"/>
                </a:solidFill>
                <a:latin typeface="Britannic Bold" panose="020B0903060703020204" pitchFamily="34" charset="0"/>
              </a:rPr>
              <a:t> et proposition de solution</a:t>
            </a:r>
            <a:r>
              <a:rPr lang="fr-FR" sz="4800" b="1" dirty="0"/>
              <a:t/>
            </a:r>
            <a:br>
              <a:rPr lang="fr-FR" sz="4800" b="1" dirty="0"/>
            </a:br>
            <a:endParaRPr sz="4800" dirty="0">
              <a:solidFill>
                <a:srgbClr val="0070C0"/>
              </a:solidFill>
              <a:latin typeface="Britannic Bold" panose="020B0903060703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9077" y="1089818"/>
            <a:ext cx="10853884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b="1" dirty="0" smtClean="0"/>
              <a:t>                     </a:t>
            </a:r>
            <a:r>
              <a:rPr lang="en-US" sz="4400" b="1" dirty="0" smtClean="0"/>
              <a:t>3.1 </a:t>
            </a:r>
            <a:r>
              <a:rPr lang="en-US" sz="4400" b="1" dirty="0"/>
              <a:t>Architecture </a:t>
            </a:r>
            <a:r>
              <a:rPr lang="en-US" sz="4400" b="1" dirty="0" err="1" smtClean="0"/>
              <a:t>proposée</a:t>
            </a:r>
            <a:r>
              <a:rPr lang="fr-FR" sz="4400" b="1" dirty="0"/>
              <a:t> </a:t>
            </a:r>
            <a:endParaRPr lang="fr-FR" sz="4400" b="1" dirty="0" smtClean="0"/>
          </a:p>
          <a:p>
            <a:pPr marL="0" indent="0">
              <a:buNone/>
            </a:pPr>
            <a:r>
              <a:rPr lang="en-US" sz="3900" dirty="0" smtClean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en-US" sz="3900" dirty="0">
                <a:latin typeface="Arial" panose="020B0604020202020204" pitchFamily="34" charset="0"/>
                <a:cs typeface="Arial" panose="020B0604020202020204" pitchFamily="34" charset="0"/>
              </a:rPr>
              <a:t>solution </a:t>
            </a:r>
            <a:r>
              <a:rPr lang="en-US" sz="3900" dirty="0" err="1">
                <a:latin typeface="Arial" panose="020B0604020202020204" pitchFamily="34" charset="0"/>
                <a:cs typeface="Arial" panose="020B0604020202020204" pitchFamily="34" charset="0"/>
              </a:rPr>
              <a:t>retenue</a:t>
            </a:r>
            <a:r>
              <a:rPr lang="en-US" sz="3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900" dirty="0" err="1">
                <a:latin typeface="Arial" panose="020B0604020202020204" pitchFamily="34" charset="0"/>
                <a:cs typeface="Arial" panose="020B0604020202020204" pitchFamily="34" charset="0"/>
              </a:rPr>
              <a:t>est</a:t>
            </a:r>
            <a:r>
              <a:rPr lang="en-US" sz="3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900" dirty="0" err="1">
                <a:latin typeface="Arial" panose="020B0604020202020204" pitchFamily="34" charset="0"/>
                <a:cs typeface="Arial" panose="020B0604020202020204" pitchFamily="34" charset="0"/>
              </a:rPr>
              <a:t>une</a:t>
            </a:r>
            <a:r>
              <a:rPr lang="en-US" sz="3900" dirty="0">
                <a:latin typeface="Arial" panose="020B0604020202020204" pitchFamily="34" charset="0"/>
                <a:cs typeface="Arial" panose="020B0604020202020204" pitchFamily="34" charset="0"/>
              </a:rPr>
              <a:t> architecture client-</a:t>
            </a:r>
            <a:r>
              <a:rPr lang="en-US" sz="3900" dirty="0" err="1">
                <a:latin typeface="Arial" panose="020B0604020202020204" pitchFamily="34" charset="0"/>
                <a:cs typeface="Arial" panose="020B0604020202020204" pitchFamily="34" charset="0"/>
              </a:rPr>
              <a:t>serveur</a:t>
            </a:r>
            <a:r>
              <a:rPr lang="en-US" sz="3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900" dirty="0" err="1">
                <a:latin typeface="Arial" panose="020B0604020202020204" pitchFamily="34" charset="0"/>
                <a:cs typeface="Arial" panose="020B0604020202020204" pitchFamily="34" charset="0"/>
              </a:rPr>
              <a:t>comprenant</a:t>
            </a:r>
            <a:r>
              <a:rPr lang="en-US" sz="3900"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endParaRPr lang="en-US" sz="39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900" dirty="0" smtClean="0">
                <a:latin typeface="Arial" panose="020B0604020202020204" pitchFamily="34" charset="0"/>
                <a:cs typeface="Arial" panose="020B0604020202020204" pitchFamily="34" charset="0"/>
              </a:rPr>
              <a:t> Un </a:t>
            </a:r>
            <a:r>
              <a:rPr lang="en-US" sz="3900" dirty="0" err="1">
                <a:latin typeface="Arial" panose="020B0604020202020204" pitchFamily="34" charset="0"/>
                <a:cs typeface="Arial" panose="020B0604020202020204" pitchFamily="34" charset="0"/>
              </a:rPr>
              <a:t>routeur</a:t>
            </a:r>
            <a:r>
              <a:rPr lang="en-US" sz="3900" dirty="0">
                <a:latin typeface="Arial" panose="020B0604020202020204" pitchFamily="34" charset="0"/>
                <a:cs typeface="Arial" panose="020B0604020202020204" pitchFamily="34" charset="0"/>
              </a:rPr>
              <a:t> pour </a:t>
            </a:r>
            <a:r>
              <a:rPr lang="en-US" sz="3900" dirty="0" err="1">
                <a:latin typeface="Arial" panose="020B0604020202020204" pitchFamily="34" charset="0"/>
                <a:cs typeface="Arial" panose="020B0604020202020204" pitchFamily="34" charset="0"/>
              </a:rPr>
              <a:t>l’accès</a:t>
            </a:r>
            <a:r>
              <a:rPr lang="en-US" sz="3900" dirty="0">
                <a:latin typeface="Arial" panose="020B0604020202020204" pitchFamily="34" charset="0"/>
                <a:cs typeface="Arial" panose="020B0604020202020204" pitchFamily="34" charset="0"/>
              </a:rPr>
              <a:t> Internet </a:t>
            </a:r>
            <a:endParaRPr lang="en-US" sz="39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900" dirty="0" smtClean="0">
                <a:latin typeface="Arial" panose="020B0604020202020204" pitchFamily="34" charset="0"/>
                <a:cs typeface="Arial" panose="020B0604020202020204" pitchFamily="34" charset="0"/>
              </a:rPr>
              <a:t> Un </a:t>
            </a:r>
            <a:r>
              <a:rPr lang="en-US" sz="3900" dirty="0">
                <a:latin typeface="Arial" panose="020B0604020202020204" pitchFamily="34" charset="0"/>
                <a:cs typeface="Arial" panose="020B0604020202020204" pitchFamily="34" charset="0"/>
              </a:rPr>
              <a:t>switch 24 ports </a:t>
            </a:r>
            <a:endParaRPr lang="en-US" sz="39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900" dirty="0" smtClean="0">
                <a:latin typeface="Arial" panose="020B0604020202020204" pitchFamily="34" charset="0"/>
                <a:cs typeface="Arial" panose="020B0604020202020204" pitchFamily="34" charset="0"/>
              </a:rPr>
              <a:t> Un </a:t>
            </a:r>
            <a:r>
              <a:rPr lang="en-US" sz="3900" dirty="0" err="1">
                <a:latin typeface="Arial" panose="020B0604020202020204" pitchFamily="34" charset="0"/>
                <a:cs typeface="Arial" panose="020B0604020202020204" pitchFamily="34" charset="0"/>
              </a:rPr>
              <a:t>serveur</a:t>
            </a:r>
            <a:r>
              <a:rPr lang="en-US" sz="3900" dirty="0">
                <a:latin typeface="Arial" panose="020B0604020202020204" pitchFamily="34" charset="0"/>
                <a:cs typeface="Arial" panose="020B0604020202020204" pitchFamily="34" charset="0"/>
              </a:rPr>
              <a:t> local </a:t>
            </a:r>
            <a:endParaRPr lang="en-US" sz="39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9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900" dirty="0">
                <a:latin typeface="Arial" panose="020B0604020202020204" pitchFamily="34" charset="0"/>
                <a:cs typeface="Arial" panose="020B0604020202020204" pitchFamily="34" charset="0"/>
              </a:rPr>
              <a:t>Des </a:t>
            </a:r>
            <a:r>
              <a:rPr lang="en-US" sz="3900" dirty="0" err="1">
                <a:latin typeface="Arial" panose="020B0604020202020204" pitchFamily="34" charset="0"/>
                <a:cs typeface="Arial" panose="020B0604020202020204" pitchFamily="34" charset="0"/>
              </a:rPr>
              <a:t>postes</a:t>
            </a:r>
            <a:r>
              <a:rPr lang="en-US" sz="3900" dirty="0">
                <a:latin typeface="Arial" panose="020B0604020202020204" pitchFamily="34" charset="0"/>
                <a:cs typeface="Arial" panose="020B0604020202020204" pitchFamily="34" charset="0"/>
              </a:rPr>
              <a:t> clients </a:t>
            </a:r>
            <a:r>
              <a:rPr lang="en-US" sz="3900" dirty="0" err="1">
                <a:latin typeface="Arial" panose="020B0604020202020204" pitchFamily="34" charset="0"/>
                <a:cs typeface="Arial" panose="020B0604020202020204" pitchFamily="34" charset="0"/>
              </a:rPr>
              <a:t>connectés</a:t>
            </a:r>
            <a:r>
              <a:rPr lang="en-US" sz="3900" dirty="0">
                <a:latin typeface="Arial" panose="020B0604020202020204" pitchFamily="34" charset="0"/>
                <a:cs typeface="Arial" panose="020B0604020202020204" pitchFamily="34" charset="0"/>
              </a:rPr>
              <a:t> en </a:t>
            </a:r>
            <a:r>
              <a:rPr lang="en-US" sz="3900" dirty="0" err="1">
                <a:latin typeface="Arial" panose="020B0604020202020204" pitchFamily="34" charset="0"/>
                <a:cs typeface="Arial" panose="020B0604020202020204" pitchFamily="34" charset="0"/>
              </a:rPr>
              <a:t>réseau</a:t>
            </a:r>
            <a:r>
              <a:rPr lang="en-US" sz="3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900" dirty="0" err="1">
                <a:latin typeface="Arial" panose="020B0604020202020204" pitchFamily="34" charset="0"/>
                <a:cs typeface="Arial" panose="020B0604020202020204" pitchFamily="34" charset="0"/>
              </a:rPr>
              <a:t>filaire</a:t>
            </a:r>
            <a:endParaRPr lang="fr-FR" sz="3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sz="3600" dirty="0" smtClean="0">
              <a:latin typeface="Berlin Sans FB" panose="020E0602020502020306" pitchFamily="34" charset="0"/>
            </a:endParaRP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9536"/>
            <a:ext cx="12664440" cy="6327648"/>
          </a:xfrm>
          <a:prstGeom prst="rect">
            <a:avLst/>
          </a:prstGeom>
        </p:spPr>
      </p:pic>
      <p:sp>
        <p:nvSpPr>
          <p:cNvPr id="4" name="ZoneTexte 3"/>
          <p:cNvSpPr txBox="1"/>
          <p:nvPr/>
        </p:nvSpPr>
        <p:spPr>
          <a:xfrm>
            <a:off x="250793" y="365760"/>
            <a:ext cx="121628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dirty="0" smtClean="0">
                <a:solidFill>
                  <a:srgbClr val="0070C0"/>
                </a:solidFill>
                <a:latin typeface="Berlin Sans FB Demi" panose="020E0802020502020306" pitchFamily="34" charset="0"/>
              </a:rPr>
              <a:t>3.2 </a:t>
            </a:r>
            <a:r>
              <a:rPr lang="fr-FR" sz="4800" dirty="0" err="1" smtClean="0">
                <a:solidFill>
                  <a:srgbClr val="0070C0"/>
                </a:solidFill>
                <a:latin typeface="Berlin Sans FB Demi" panose="020E0802020502020306" pitchFamily="34" charset="0"/>
              </a:rPr>
              <a:t>Shéma</a:t>
            </a:r>
            <a:r>
              <a:rPr lang="fr-FR" sz="4800" dirty="0" smtClean="0">
                <a:solidFill>
                  <a:srgbClr val="0070C0"/>
                </a:solidFill>
                <a:latin typeface="Berlin Sans FB Demi" panose="020E0802020502020306" pitchFamily="34" charset="0"/>
              </a:rPr>
              <a:t>  du réseau</a:t>
            </a:r>
            <a:endParaRPr lang="fr-FR" sz="4800" dirty="0">
              <a:solidFill>
                <a:srgbClr val="0070C0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376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5300" b="1" smtClean="0">
                <a:solidFill>
                  <a:srgbClr val="0070C0"/>
                </a:solidFill>
                <a:latin typeface="Britannic Bold" panose="020B0903060703020204" pitchFamily="34" charset="0"/>
              </a:rPr>
              <a:t/>
            </a:r>
            <a:br>
              <a:rPr lang="en-US" sz="5300" b="1" smtClean="0">
                <a:solidFill>
                  <a:srgbClr val="0070C0"/>
                </a:solidFill>
                <a:latin typeface="Britannic Bold" panose="020B0903060703020204" pitchFamily="34" charset="0"/>
              </a:rPr>
            </a:br>
            <a:r>
              <a:rPr lang="en-US" sz="5300" b="1" smtClean="0">
                <a:solidFill>
                  <a:srgbClr val="0070C0"/>
                </a:solidFill>
                <a:latin typeface="Britannic Bold" panose="020B0903060703020204" pitchFamily="34" charset="0"/>
              </a:rPr>
              <a:t>3.3 </a:t>
            </a:r>
            <a:r>
              <a:rPr lang="en-US" sz="5300" b="1" dirty="0">
                <a:solidFill>
                  <a:srgbClr val="0070C0"/>
                </a:solidFill>
                <a:latin typeface="Britannic Bold" panose="020B0903060703020204" pitchFamily="34" charset="0"/>
              </a:rPr>
              <a:t>Justification des </a:t>
            </a:r>
            <a:r>
              <a:rPr lang="en-US" sz="5300" b="1" dirty="0" err="1">
                <a:solidFill>
                  <a:srgbClr val="0070C0"/>
                </a:solidFill>
                <a:latin typeface="Britannic Bold" panose="020B0903060703020204" pitchFamily="34" charset="0"/>
              </a:rPr>
              <a:t>choix</a:t>
            </a:r>
            <a:r>
              <a:rPr lang="fr-FR" sz="5400" b="1" dirty="0"/>
              <a:t/>
            </a:r>
            <a:br>
              <a:rPr lang="fr-FR" sz="5400" b="1" dirty="0"/>
            </a:br>
            <a:endParaRPr sz="5400" dirty="0">
              <a:solidFill>
                <a:srgbClr val="0070C0"/>
              </a:solidFill>
              <a:latin typeface="Britannic Bold" panose="020B0903060703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8289" y="2018844"/>
            <a:ext cx="10137788" cy="3555692"/>
          </a:xfrm>
        </p:spPr>
        <p:txBody>
          <a:bodyPr>
            <a:normAutofit/>
          </a:bodyPr>
          <a:lstStyle/>
          <a:p>
            <a:pPr lvl="0"/>
            <a:r>
              <a:rPr lang="en-US" sz="3600" i="1" u="sng" dirty="0" smtClean="0"/>
              <a:t>Switch </a:t>
            </a:r>
            <a:r>
              <a:rPr lang="en-US" sz="3600" i="1" u="sng" dirty="0"/>
              <a:t>24 ports </a:t>
            </a:r>
            <a:r>
              <a:rPr lang="en-US" sz="3600" dirty="0"/>
              <a:t>: </a:t>
            </a:r>
            <a:r>
              <a:rPr lang="en-US" sz="3600" dirty="0" err="1"/>
              <a:t>évolutivité</a:t>
            </a:r>
            <a:endParaRPr lang="fr-FR" sz="3600" dirty="0"/>
          </a:p>
          <a:p>
            <a:pPr lvl="0"/>
            <a:r>
              <a:rPr lang="en-US" sz="3600" i="1" u="sng" dirty="0" err="1"/>
              <a:t>Serveur</a:t>
            </a:r>
            <a:r>
              <a:rPr lang="en-US" sz="3600" i="1" u="sng" dirty="0"/>
              <a:t> local </a:t>
            </a:r>
            <a:r>
              <a:rPr lang="en-US" sz="3600" dirty="0"/>
              <a:t>: </a:t>
            </a:r>
            <a:r>
              <a:rPr lang="en-US" sz="3600" dirty="0" err="1"/>
              <a:t>centralisation</a:t>
            </a:r>
            <a:r>
              <a:rPr lang="en-US" sz="3600" dirty="0"/>
              <a:t> et </a:t>
            </a:r>
            <a:r>
              <a:rPr lang="en-US" sz="3600" dirty="0" err="1"/>
              <a:t>sécurité</a:t>
            </a:r>
            <a:endParaRPr lang="fr-FR" sz="3600" dirty="0"/>
          </a:p>
          <a:p>
            <a:pPr lvl="0"/>
            <a:r>
              <a:rPr lang="en-US" sz="3600" i="1" u="sng" dirty="0"/>
              <a:t>Windows Server </a:t>
            </a:r>
            <a:r>
              <a:rPr lang="en-US" sz="3600" dirty="0"/>
              <a:t>: </a:t>
            </a:r>
            <a:r>
              <a:rPr lang="en-US" sz="3600" dirty="0" err="1"/>
              <a:t>compatibilité</a:t>
            </a:r>
            <a:r>
              <a:rPr lang="en-US" sz="3600" dirty="0"/>
              <a:t> et </a:t>
            </a:r>
            <a:r>
              <a:rPr lang="en-US" sz="3600" dirty="0" err="1"/>
              <a:t>simplicité</a:t>
            </a:r>
            <a:endParaRPr lang="fr-FR" sz="3600" dirty="0"/>
          </a:p>
          <a:p>
            <a:pPr lvl="0"/>
            <a:r>
              <a:rPr lang="en-US" sz="3600" i="1" u="sng" dirty="0"/>
              <a:t>Pare-</a:t>
            </a:r>
            <a:r>
              <a:rPr lang="en-US" sz="3600" i="1" u="sng" dirty="0" err="1"/>
              <a:t>feu</a:t>
            </a:r>
            <a:r>
              <a:rPr lang="en-US" sz="3600" i="1" u="sng" dirty="0"/>
              <a:t> </a:t>
            </a:r>
            <a:r>
              <a:rPr lang="en-US" sz="3600" i="1" u="sng" dirty="0" err="1"/>
              <a:t>activé</a:t>
            </a:r>
            <a:r>
              <a:rPr lang="en-US" sz="3600" i="1" u="sng" dirty="0"/>
              <a:t> </a:t>
            </a:r>
            <a:r>
              <a:rPr lang="en-US" sz="3600" dirty="0"/>
              <a:t>: protection </a:t>
            </a:r>
            <a:r>
              <a:rPr lang="en-US" sz="3600" dirty="0" err="1"/>
              <a:t>minimale</a:t>
            </a:r>
            <a:endParaRPr lang="fr-FR" sz="3600" dirty="0"/>
          </a:p>
          <a:p>
            <a:pPr marL="0" indent="0">
              <a:buNone/>
            </a:pPr>
            <a:endParaRPr sz="3600" dirty="0">
              <a:latin typeface="Berlin Sans FB" panose="020E0602020502020306" pitchFamily="34" charset="0"/>
            </a:endParaRP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0070C0"/>
                </a:solidFill>
                <a:latin typeface="Britannic Bold" panose="020B0903060703020204" pitchFamily="34" charset="0"/>
              </a:rPr>
              <a:t>4. </a:t>
            </a:r>
            <a:r>
              <a:rPr lang="en-US" sz="4800" b="1" dirty="0" err="1">
                <a:solidFill>
                  <a:srgbClr val="0070C0"/>
                </a:solidFill>
                <a:latin typeface="Britannic Bold" panose="020B0903060703020204" pitchFamily="34" charset="0"/>
              </a:rPr>
              <a:t>Implémentation</a:t>
            </a:r>
            <a:endParaRPr sz="4800" dirty="0">
              <a:solidFill>
                <a:srgbClr val="0070C0"/>
              </a:solidFill>
              <a:latin typeface="Britannic Bold" panose="020B0903060703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7816" y="1535423"/>
            <a:ext cx="10612603" cy="37429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4000" b="1" dirty="0"/>
              <a:t> </a:t>
            </a:r>
            <a:r>
              <a:rPr lang="fr-FR" sz="4000" b="1" dirty="0" smtClean="0"/>
              <a:t>                     </a:t>
            </a:r>
            <a:r>
              <a:rPr lang="en-US" sz="4000" b="1" dirty="0" smtClean="0"/>
              <a:t> </a:t>
            </a:r>
            <a:r>
              <a:rPr lang="en-US" sz="4400" b="1" dirty="0" smtClean="0"/>
              <a:t>4.1 </a:t>
            </a:r>
            <a:r>
              <a:rPr lang="en-US" sz="4400" b="1" dirty="0"/>
              <a:t>Installation des </a:t>
            </a:r>
            <a:r>
              <a:rPr lang="en-US" sz="4400" b="1" dirty="0" err="1"/>
              <a:t>postes</a:t>
            </a:r>
            <a:endParaRPr lang="fr-FR" sz="4400" b="1" dirty="0"/>
          </a:p>
          <a:p>
            <a:pPr lvl="0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Installation du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système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Windows</a:t>
            </a:r>
            <a:endParaRPr lang="fr-FR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Configuration des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cartes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réseau</a:t>
            </a:r>
            <a:endParaRPr lang="fr-FR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Mise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à jour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système</a:t>
            </a:r>
            <a:endParaRPr lang="fr-FR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Installation antivirus</a:t>
            </a:r>
            <a:endParaRPr lang="fr-FR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sz="4000" dirty="0">
              <a:latin typeface="Berlin Sans FB" panose="020E0602020502020306" pitchFamily="34" charset="0"/>
            </a:endParaRP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0070C0"/>
                </a:solidFill>
                <a:latin typeface="Britannic Bold" panose="020B0903060703020204" pitchFamily="34" charset="0"/>
              </a:rPr>
              <a:t>4.2 Configuration </a:t>
            </a:r>
            <a:r>
              <a:rPr lang="en-US" sz="4800" b="1" dirty="0" err="1">
                <a:solidFill>
                  <a:srgbClr val="0070C0"/>
                </a:solidFill>
                <a:latin typeface="Britannic Bold" panose="020B0903060703020204" pitchFamily="34" charset="0"/>
              </a:rPr>
              <a:t>réseau</a:t>
            </a:r>
            <a:endParaRPr sz="4800" dirty="0">
              <a:solidFill>
                <a:srgbClr val="0070C0"/>
              </a:solidFill>
              <a:latin typeface="Britannic Bold" panose="020B0903060703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6458" y="1417638"/>
            <a:ext cx="9863456" cy="4525963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Configuration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IP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manuelle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sur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le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serveur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DHCP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activé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sur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le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routeur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pour les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postes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Test de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connectivité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avec la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commande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  <a:endParaRPr lang="fr-F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ping 192.168.1.2</a:t>
            </a:r>
            <a:endParaRPr lang="fr-F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Résultat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: communication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réussie</a:t>
            </a: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sz="3600" dirty="0">
              <a:latin typeface="Berlin Sans FB" panose="020E0602020502020306" pitchFamily="34" charset="0"/>
            </a:endParaRPr>
          </a:p>
          <a:p>
            <a:pPr marL="0" indent="0">
              <a:buNone/>
            </a:pPr>
            <a:endParaRPr sz="3600" dirty="0">
              <a:latin typeface="Berlin Sans FB" panose="020E0602020502020306" pitchFamily="34" charset="0"/>
            </a:endParaRP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56032" y="521208"/>
            <a:ext cx="11768328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  <a:latin typeface="Britannic Bold" panose="020B0903060703020204" pitchFamily="34" charset="0"/>
              </a:rPr>
              <a:t>4.3 </a:t>
            </a:r>
            <a:r>
              <a:rPr lang="en-US" sz="4800" b="1" dirty="0" err="1">
                <a:solidFill>
                  <a:srgbClr val="0070C0"/>
                </a:solidFill>
                <a:latin typeface="Britannic Bold" panose="020B0903060703020204" pitchFamily="34" charset="0"/>
              </a:rPr>
              <a:t>Partage</a:t>
            </a:r>
            <a:r>
              <a:rPr lang="en-US" sz="4800" b="1" dirty="0">
                <a:solidFill>
                  <a:srgbClr val="0070C0"/>
                </a:solidFill>
                <a:latin typeface="Britannic Bold" panose="020B0903060703020204" pitchFamily="34" charset="0"/>
              </a:rPr>
              <a:t> de </a:t>
            </a:r>
            <a:r>
              <a:rPr lang="en-US" sz="4800" b="1" dirty="0" err="1">
                <a:solidFill>
                  <a:srgbClr val="0070C0"/>
                </a:solidFill>
                <a:latin typeface="Britannic Bold" panose="020B0903060703020204" pitchFamily="34" charset="0"/>
              </a:rPr>
              <a:t>fichiers</a:t>
            </a:r>
            <a:endParaRPr lang="fr-FR" sz="4800" b="1" dirty="0">
              <a:solidFill>
                <a:srgbClr val="0070C0"/>
              </a:solidFill>
              <a:latin typeface="Britannic Bold" panose="020B0903060703020204" pitchFamily="34" charset="0"/>
            </a:endParaRP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3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sz="3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Création</a:t>
            </a:r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des dossiers : </a:t>
            </a:r>
            <a:endParaRPr lang="en-US" sz="3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- </a:t>
            </a:r>
            <a:r>
              <a:rPr lang="en-US" sz="3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Comptabilité</a:t>
            </a:r>
            <a:endParaRPr lang="en-US" sz="3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Crédit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3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- Direction</a:t>
            </a:r>
          </a:p>
          <a:p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Caissiers</a:t>
            </a:r>
            <a:endParaRPr lang="fr-F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Attribution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des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droits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d’accès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selon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les services.</a:t>
            </a:r>
            <a:endParaRPr lang="fr-F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74488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10896" y="1605112"/>
            <a:ext cx="11969496" cy="2509688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Création</a:t>
            </a:r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comptes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locaux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avec mots de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passe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sécurisés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Restriction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d’accès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aux dossiers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selon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les </a:t>
            </a:r>
            <a:r>
              <a:rPr lang="en-US" sz="4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responsabilités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fr-FR" sz="4000" dirty="0"/>
              <a:t/>
            </a:r>
            <a:br>
              <a:rPr lang="fr-FR" sz="4000" dirty="0"/>
            </a:br>
            <a:endParaRPr lang="fr-FR" sz="4000" dirty="0"/>
          </a:p>
        </p:txBody>
      </p:sp>
      <p:sp>
        <p:nvSpPr>
          <p:cNvPr id="3" name="ZoneTexte 2"/>
          <p:cNvSpPr txBox="1"/>
          <p:nvPr/>
        </p:nvSpPr>
        <p:spPr>
          <a:xfrm rot="10800000" flipH="1" flipV="1">
            <a:off x="493776" y="508938"/>
            <a:ext cx="116403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solidFill>
                  <a:srgbClr val="0070C0"/>
                </a:solidFill>
                <a:latin typeface="Britannic Bold" panose="020B0903060703020204" pitchFamily="34" charset="0"/>
              </a:rPr>
              <a:t>    4.4 </a:t>
            </a:r>
            <a:r>
              <a:rPr lang="en-US" sz="4800" b="1" dirty="0" err="1">
                <a:solidFill>
                  <a:srgbClr val="0070C0"/>
                </a:solidFill>
                <a:latin typeface="Britannic Bold" panose="020B0903060703020204" pitchFamily="34" charset="0"/>
              </a:rPr>
              <a:t>Création</a:t>
            </a:r>
            <a:r>
              <a:rPr lang="en-US" sz="4800" b="1" dirty="0">
                <a:solidFill>
                  <a:srgbClr val="0070C0"/>
                </a:solidFill>
                <a:latin typeface="Britannic Bold" panose="020B0903060703020204" pitchFamily="34" charset="0"/>
              </a:rPr>
              <a:t> des </a:t>
            </a:r>
            <a:r>
              <a:rPr lang="en-US" sz="4800" b="1" dirty="0" err="1">
                <a:solidFill>
                  <a:srgbClr val="0070C0"/>
                </a:solidFill>
                <a:latin typeface="Britannic Bold" panose="020B0903060703020204" pitchFamily="34" charset="0"/>
              </a:rPr>
              <a:t>comptes</a:t>
            </a:r>
            <a:r>
              <a:rPr lang="en-US" sz="4800" b="1" dirty="0">
                <a:solidFill>
                  <a:srgbClr val="0070C0"/>
                </a:solidFill>
                <a:latin typeface="Britannic Bold" panose="020B0903060703020204" pitchFamily="34" charset="0"/>
              </a:rPr>
              <a:t> </a:t>
            </a:r>
            <a:r>
              <a:rPr lang="en-US" sz="4800" b="1" dirty="0" err="1">
                <a:solidFill>
                  <a:srgbClr val="0070C0"/>
                </a:solidFill>
                <a:latin typeface="Britannic Bold" panose="020B0903060703020204" pitchFamily="34" charset="0"/>
              </a:rPr>
              <a:t>utilisateurs</a:t>
            </a:r>
            <a:endParaRPr lang="fr-FR" sz="4800" dirty="0"/>
          </a:p>
        </p:txBody>
      </p:sp>
    </p:spTree>
    <p:extLst>
      <p:ext uri="{BB962C8B-B14F-4D97-AF65-F5344CB8AC3E}">
        <p14:creationId xmlns:p14="http://schemas.microsoft.com/office/powerpoint/2010/main" val="3089834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0070C0"/>
                </a:solidFill>
                <a:latin typeface="Britannic Bold" panose="020B0903060703020204" pitchFamily="34" charset="0"/>
              </a:rPr>
              <a:t>4.5 </a:t>
            </a:r>
            <a:r>
              <a:rPr lang="en-US" sz="4800" b="1" dirty="0" err="1">
                <a:solidFill>
                  <a:srgbClr val="0070C0"/>
                </a:solidFill>
                <a:latin typeface="Britannic Bold" panose="020B0903060703020204" pitchFamily="34" charset="0"/>
              </a:rPr>
              <a:t>Sécurité</a:t>
            </a:r>
            <a:r>
              <a:rPr lang="en-US" sz="4800" b="1" dirty="0">
                <a:solidFill>
                  <a:srgbClr val="0070C0"/>
                </a:solidFill>
                <a:latin typeface="Britannic Bold" panose="020B0903060703020204" pitchFamily="34" charset="0"/>
              </a:rPr>
              <a:t> </a:t>
            </a:r>
            <a:r>
              <a:rPr lang="en-US" sz="4800" b="1" dirty="0" err="1">
                <a:solidFill>
                  <a:srgbClr val="0070C0"/>
                </a:solidFill>
                <a:latin typeface="Britannic Bold" panose="020B0903060703020204" pitchFamily="34" charset="0"/>
              </a:rPr>
              <a:t>mise</a:t>
            </a:r>
            <a:r>
              <a:rPr lang="en-US" sz="4800" b="1" dirty="0">
                <a:solidFill>
                  <a:srgbClr val="0070C0"/>
                </a:solidFill>
                <a:latin typeface="Britannic Bold" panose="020B0903060703020204" pitchFamily="34" charset="0"/>
              </a:rPr>
              <a:t> en place</a:t>
            </a:r>
            <a:endParaRPr lang="fr-FR" sz="4800" b="1" dirty="0">
              <a:solidFill>
                <a:srgbClr val="0070C0"/>
              </a:solidFill>
              <a:latin typeface="Britannic Bold" panose="020B0903060703020204" pitchFamily="34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1353312" y="1655064"/>
            <a:ext cx="107259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Pare-</a:t>
            </a:r>
            <a:r>
              <a:rPr lang="en-US" sz="3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feu</a:t>
            </a:r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activé</a:t>
            </a:r>
            <a:endParaRPr lang="fr-F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Antivirus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installé</a:t>
            </a:r>
            <a:endParaRPr lang="fr-F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Sauvegarde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sur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disque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externe</a:t>
            </a:r>
            <a:endParaRPr lang="fr-F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Protection du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compte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administrateur</a:t>
            </a:r>
            <a:endParaRPr lang="fr-FR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693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923544" y="786384"/>
            <a:ext cx="105796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>
                <a:solidFill>
                  <a:srgbClr val="0070C0"/>
                </a:solidFill>
                <a:latin typeface="Britannic Bold" panose="020B0903060703020204" pitchFamily="34" charset="0"/>
              </a:rPr>
              <a:t>5. Tests et validation</a:t>
            </a:r>
            <a:endParaRPr lang="fr-FR" sz="4800" b="1" dirty="0">
              <a:solidFill>
                <a:srgbClr val="0070C0"/>
              </a:solidFill>
              <a:latin typeface="Britannic Bold" panose="020B0903060703020204" pitchFamily="34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 flipH="1">
            <a:off x="384048" y="2029968"/>
            <a:ext cx="1201521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     Test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connexion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réseau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(ping)</a:t>
            </a:r>
            <a:endParaRPr lang="fr-F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     Test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d’accès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aux dossiers </a:t>
            </a:r>
            <a:r>
              <a:rPr lang="en-US" sz="3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partagé</a:t>
            </a:r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0"/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     Test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d’accès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Interne </a:t>
            </a:r>
          </a:p>
          <a:p>
            <a:pPr lvl="0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3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Vérification</a:t>
            </a:r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des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droits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utilisateurs</a:t>
            </a:r>
            <a:endParaRPr lang="fr-F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sz="3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Tous</a:t>
            </a:r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les tests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ont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été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concluants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fr-FR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721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557784" y="173736"/>
            <a:ext cx="115763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  <a:latin typeface="Britannic Bold" panose="020B0903060703020204" pitchFamily="34" charset="0"/>
                <a:cs typeface="Arial" panose="020B0604020202020204" pitchFamily="34" charset="0"/>
              </a:rPr>
              <a:t>6. </a:t>
            </a:r>
            <a:r>
              <a:rPr lang="en-US" sz="4800" b="1" dirty="0" err="1">
                <a:solidFill>
                  <a:srgbClr val="0070C0"/>
                </a:solidFill>
                <a:latin typeface="Britannic Bold" panose="020B0903060703020204" pitchFamily="34" charset="0"/>
                <a:cs typeface="Arial" panose="020B0604020202020204" pitchFamily="34" charset="0"/>
              </a:rPr>
              <a:t>Limites</a:t>
            </a:r>
            <a:r>
              <a:rPr lang="en-US" sz="4800" b="1" dirty="0">
                <a:solidFill>
                  <a:srgbClr val="0070C0"/>
                </a:solidFill>
                <a:latin typeface="Britannic Bold" panose="020B0903060703020204" pitchFamily="34" charset="0"/>
                <a:cs typeface="Arial" panose="020B0604020202020204" pitchFamily="34" charset="0"/>
              </a:rPr>
              <a:t> du </a:t>
            </a:r>
            <a:r>
              <a:rPr lang="en-US" sz="4800" b="1" dirty="0" err="1">
                <a:solidFill>
                  <a:srgbClr val="0070C0"/>
                </a:solidFill>
                <a:latin typeface="Britannic Bold" panose="020B0903060703020204" pitchFamily="34" charset="0"/>
                <a:cs typeface="Arial" panose="020B0604020202020204" pitchFamily="34" charset="0"/>
              </a:rPr>
              <a:t>projet</a:t>
            </a:r>
            <a:endParaRPr lang="fr-FR" sz="4800" b="1" dirty="0">
              <a:solidFill>
                <a:srgbClr val="0070C0"/>
              </a:solidFill>
              <a:latin typeface="Britannic Bold" panose="020B0903060703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641348" y="1348740"/>
            <a:ext cx="940917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Absence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de firewall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professionnel</a:t>
            </a:r>
            <a:endParaRPr lang="fr-F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Pas de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serveur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Active Directory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complet</a:t>
            </a:r>
            <a:endParaRPr lang="fr-F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Sauvegarde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locale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uniquement</a:t>
            </a:r>
            <a:endParaRPr lang="fr-F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Pas de VLAN pour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séparer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les services</a:t>
            </a:r>
            <a:endParaRPr lang="fr-FR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0779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463040" y="1755648"/>
            <a:ext cx="1058875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3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Mise</a:t>
            </a:r>
            <a:r>
              <a:rPr lang="en-US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en place d’un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serveur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Active Directory</a:t>
            </a:r>
            <a:endParaRPr lang="fr-F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Implémentation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de VLAN pour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renforcer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sécurité</a:t>
            </a:r>
            <a:endParaRPr lang="fr-F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Sauvegarde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cloud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automatisée</a:t>
            </a:r>
            <a:endParaRPr lang="fr-F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Installation d’un firewall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dédié</a:t>
            </a:r>
            <a:endParaRPr lang="fr-F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Supervision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réseau</a:t>
            </a:r>
            <a:endParaRPr lang="fr-F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1362456" y="667512"/>
            <a:ext cx="94640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  <a:latin typeface="Britannic Bold" panose="020B0903060703020204" pitchFamily="34" charset="0"/>
              </a:rPr>
              <a:t>7. </a:t>
            </a:r>
            <a:r>
              <a:rPr lang="en-US" sz="4800" b="1" dirty="0" err="1">
                <a:solidFill>
                  <a:srgbClr val="0070C0"/>
                </a:solidFill>
                <a:latin typeface="Britannic Bold" panose="020B0903060703020204" pitchFamily="34" charset="0"/>
              </a:rPr>
              <a:t>Améliorations</a:t>
            </a:r>
            <a:r>
              <a:rPr lang="en-US" sz="4800" b="1" dirty="0">
                <a:solidFill>
                  <a:srgbClr val="0070C0"/>
                </a:solidFill>
                <a:latin typeface="Britannic Bold" panose="020B0903060703020204" pitchFamily="34" charset="0"/>
              </a:rPr>
              <a:t> </a:t>
            </a:r>
            <a:r>
              <a:rPr lang="en-US" sz="4800" b="1" dirty="0" err="1">
                <a:solidFill>
                  <a:srgbClr val="0070C0"/>
                </a:solidFill>
                <a:latin typeface="Britannic Bold" panose="020B0903060703020204" pitchFamily="34" charset="0"/>
              </a:rPr>
              <a:t>possibles</a:t>
            </a:r>
            <a:endParaRPr lang="fr-FR" sz="4800" b="1" dirty="0">
              <a:solidFill>
                <a:srgbClr val="0070C0"/>
              </a:solidFill>
              <a:latin typeface="Britannic Bold" panose="020B09030607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566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521208" y="73152"/>
            <a:ext cx="111008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  <a:latin typeface="Britannic Bold" panose="020B0903060703020204" pitchFamily="34" charset="0"/>
              </a:rPr>
              <a:t>8. Conclusion</a:t>
            </a:r>
            <a:endParaRPr lang="fr-FR" sz="4800" b="1" dirty="0">
              <a:solidFill>
                <a:srgbClr val="0070C0"/>
              </a:solidFill>
              <a:latin typeface="Britannic Bold" panose="020B0903060703020204" pitchFamily="34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0" y="904149"/>
            <a:ext cx="1249203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Ce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projet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nous a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permis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d’appliquer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concrètement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les notions de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réseau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local, configuration IP,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partage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fichiers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gestion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des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utilisateurs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. La solution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proposée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répond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aux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besoins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essentiels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de la microfinance MUROC tout en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respectant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les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contraintes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budgétaires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. Bien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simplifiée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l’infrastructure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mise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en place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constitue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une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base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solide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pouvant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évoluer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vers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une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architecture plus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sécurisée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professionnelle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fr-F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Cette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SAÉ nous a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également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permis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développer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nos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compétences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en travail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d’équipe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, en communication technique et en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rédaction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professionnelle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fr-FR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732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2027103" y="2707528"/>
            <a:ext cx="83067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dirty="0" smtClean="0">
                <a:solidFill>
                  <a:srgbClr val="0070C0"/>
                </a:solidFill>
                <a:latin typeface="Britannic Bold" panose="020B0903060703020204" pitchFamily="34" charset="0"/>
              </a:rPr>
              <a:t>Fin de la présentation</a:t>
            </a:r>
            <a:endParaRPr lang="fr-FR" sz="4800" dirty="0">
              <a:solidFill>
                <a:srgbClr val="0070C0"/>
              </a:solidFill>
              <a:latin typeface="Britannic Bold" panose="020B09030607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6073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1276</TotalTime>
  <Words>490</Words>
  <Application>Microsoft Office PowerPoint</Application>
  <PresentationFormat>Personnalisé</PresentationFormat>
  <Paragraphs>87</Paragraphs>
  <Slides>18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5" baseType="lpstr">
      <vt:lpstr>Arial</vt:lpstr>
      <vt:lpstr>Berlin Sans FB</vt:lpstr>
      <vt:lpstr>Berlin Sans FB Demi</vt:lpstr>
      <vt:lpstr>Britannic Bold</vt:lpstr>
      <vt:lpstr>Calibri</vt:lpstr>
      <vt:lpstr>Franklin Gothic Heavy</vt:lpstr>
      <vt:lpstr>Office Theme</vt:lpstr>
      <vt:lpstr> Projet SAÉ Recueil et Implémentation des Besoins d’un client </vt:lpstr>
      <vt:lpstr>1. Présentation de l’entreprise</vt:lpstr>
      <vt:lpstr>2. Besoins recueillis </vt:lpstr>
      <vt:lpstr>Présentation PowerPoint</vt:lpstr>
      <vt:lpstr> 2.3 Problèmes identifiés </vt:lpstr>
      <vt:lpstr>3. Analyse et proposition de solution </vt:lpstr>
      <vt:lpstr>Présentation PowerPoint</vt:lpstr>
      <vt:lpstr> 3.3 Justification des choix </vt:lpstr>
      <vt:lpstr>4. Implémentation</vt:lpstr>
      <vt:lpstr>4.2 Configuration réseau</vt:lpstr>
      <vt:lpstr>Présentation PowerPoint</vt:lpstr>
      <vt:lpstr>Création de comptes locaux avec mots de passe sécurisés. Restriction d’accès aux dossiers selon les responsabilités. </vt:lpstr>
      <vt:lpstr>4.5 Sécurité mise en place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SAÉ Infrastructure Réseau - Microfinance MUROC</dc:title>
  <dc:subject/>
  <dc:creator/>
  <cp:keywords/>
  <dc:description>generated using python-pptx</dc:description>
  <cp:lastModifiedBy>LENOVO</cp:lastModifiedBy>
  <cp:revision>46</cp:revision>
  <dcterms:created xsi:type="dcterms:W3CDTF">2013-01-27T09:14:16Z</dcterms:created>
  <dcterms:modified xsi:type="dcterms:W3CDTF">2026-03-05T13:36:30Z</dcterms:modified>
  <cp:category/>
</cp:coreProperties>
</file>